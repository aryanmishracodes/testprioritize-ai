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proud to present TestPrioritize AI — an intelligent, deterministic test orchestration engine that solves the single biggest bottleneck in modern CI/CD: waiting for slow test feedback. Today we will show you how static AST code analysis, bidirectional dependency tracing, and external risk intelligence catch regressions up to 85% faster.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problem: Every engineering team runs test suites alphabetically. If a developer breaks checkout logic, test_checkout might be test number 800 in the suite. The developer context-switches, forgets what they wrote, and 40 minutes later gets an email that the build failed. Millions of dollars of cloud compute are burned on passing tests before the failure is detected.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technical moat is Bidirectional AST Dependency Mapping. When a file like checkout.py changes, we don't just look downstream. We parse checkout's internal imports upstream — identifying that it relies on cart.py — and map both test suites deterministically. We also parse the unified diff to find exact modified functions, scoring test functions that exercise the changed logic highest.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architecture: First, the Git Diff Checker identifies changed files. Second, the AST engine builds the syntax tree in under 5 milliseconds with zero LLM hallucination. Third, the deterministic ranking engine scores tests from 0 to 100 into High, Medium, and Low risk tiers. Fourth, our isolated Pytest orchestrator runs the tests in fresh temporary clones with fail-fast enabled.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real numbers from our live benchmark: On our E-Commerce suite, under standard execution, the currency rounding regression wasn't caught until test #14 because 13 passing cart tests ran first. In our Prioritized AST mode, the exact same regression was surfaced at test #1 — 13 tests earlier, cutting time-to-first-failure by 85.5%. And our static analysis overhead was just 3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built user-controlled Test Selection. Developers can choose Top-N mode (for example, run only the top 5 most relevant tests for a quick pre-commit check), or Manual Selection with one-click Select All and Clear Selection. Crucially, the exact selected subset is applied symmetrically to both standard and prioritized benchmarks with full fail-fast support and clear subset warning banners.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external intelligence, we integrated the official TinyFish Search REST API. When requirements.txt changes, we query TinyFish for CVEs, breaking changes, and migration advisories. If a breaking change is detected in an upstream package, tests exercising that package receive a 20-point risk boost in the execution queue, protecting against upstream breakages.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this works across different architectures, we built 4 complete, production-grade repositories with 83 genuine unit tests: E-Commerce, Authentication, Payment Gateway, and Booking Platform. Each has healthy PR scenarios and seeded regression bugs that prove our prioritization holds true across diverse domains.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software engineering quality is uncompromising: We have 146 automated tests with a 100% pass rate. We designed the interface with a clean, monochrome Linear and Vercel-inspired dark theme, JetBrains Mono tabular metrics, and zero code execution hazards — static analysis inspects syntax trees purely in memory.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TestPrioritize AI transforms CI/CD from a slow, blind waiting game into an instantaneous feedback loop. It's ready to deploy as a GitHub Action or standalone CLI. Thank you, and we'd love to take you through the live dashboard demonstration and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914400" y="1371600"/>
            <a:ext cx="10332720" cy="4114800"/>
          </a:xfrm>
          <a:prstGeom prst="rect">
            <a:avLst/>
          </a:prstGeom>
          <a:noFill/>
        </p:spPr>
        <p:txBody>
          <a:bodyPr wrap="square">
            <a:spAutoFit/>
          </a:bodyPr>
          <a:lstStyle/>
          <a:p>
            <a:pPr>
              <a:defRPr sz="1300" b="1">
                <a:solidFill>
                  <a:srgbClr val="34D399"/>
                </a:solidFill>
              </a:defRPr>
            </a:pPr>
            <a:r>
              <a:t>HACKIIITD GRAND FINALE  •  DEVELOPER PRODUCTIVITY &amp; AI TOOLS</a:t>
            </a:r>
          </a:p>
          <a:p>
            <a:pPr>
              <a:spcBef>
                <a:spcPts val="1400"/>
              </a:spcBef>
              <a:defRPr sz="4400" b="1">
                <a:solidFill>
                  <a:srgbClr val="FAFAFA"/>
                </a:solidFill>
              </a:defRPr>
            </a:pPr>
            <a:r>
              <a:t>TestPrioritize AI</a:t>
            </a:r>
          </a:p>
          <a:p>
            <a:pPr>
              <a:spcBef>
                <a:spcPts val="800"/>
              </a:spcBef>
              <a:defRPr sz="2200">
                <a:solidFill>
                  <a:srgbClr val="60A5FA"/>
                </a:solidFill>
              </a:defRPr>
            </a:pPr>
            <a:r>
              <a:t>Deterministic AST-Aware CI/CD Test Intelligence Platform</a:t>
            </a:r>
          </a:p>
          <a:p>
            <a:pPr>
              <a:spcBef>
                <a:spcPts val="1400"/>
              </a:spcBef>
              <a:defRPr sz="1400">
                <a:solidFill>
                  <a:srgbClr val="A1A1AA"/>
                </a:solidFill>
              </a:defRPr>
            </a:pPr>
            <a:r>
              <a:t>Slashing continuous integration feedback loops by surfacing failing tests first through static code graph analysis, bidirectional dependency tracing, and external risk intelligence.</a:t>
            </a:r>
          </a:p>
        </p:txBody>
      </p:sp>
      <p:sp>
        <p:nvSpPr>
          <p:cNvPr id="3" name="Rounded Rectangle 2"/>
          <p:cNvSpPr/>
          <p:nvPr/>
        </p:nvSpPr>
        <p:spPr>
          <a:xfrm>
            <a:off x="914400" y="4572000"/>
            <a:ext cx="3200400" cy="16459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Time Saved (T_fail)</a:t>
            </a:r>
          </a:p>
          <a:p>
            <a:pPr>
              <a:defRPr sz="2800" b="1">
                <a:solidFill>
                  <a:srgbClr val="34D399"/>
                </a:solidFill>
                <a:latin typeface="Arial"/>
              </a:defRPr>
            </a:pPr>
            <a:r>
              <a:t>85.5%</a:t>
            </a:r>
          </a:p>
          <a:p>
            <a:pPr>
              <a:spcBef>
                <a:spcPts val="600"/>
              </a:spcBef>
              <a:defRPr sz="1100">
                <a:solidFill>
                  <a:srgbClr val="A1A1AA"/>
                </a:solidFill>
                <a:latin typeface="Arial"/>
              </a:defRPr>
            </a:pPr>
            <a:r>
              <a:t>Average detection time reduction on regressions in CI suites.</a:t>
            </a:r>
          </a:p>
        </p:txBody>
      </p:sp>
      <p:sp>
        <p:nvSpPr>
          <p:cNvPr id="4" name="Rounded Rectangle 3"/>
          <p:cNvSpPr/>
          <p:nvPr/>
        </p:nvSpPr>
        <p:spPr>
          <a:xfrm>
            <a:off x="4389120" y="4572000"/>
            <a:ext cx="3200400" cy="16459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Analysis Overhead</a:t>
            </a:r>
          </a:p>
          <a:p>
            <a:pPr>
              <a:defRPr sz="2800" b="1">
                <a:solidFill>
                  <a:srgbClr val="60A5FA"/>
                </a:solidFill>
                <a:latin typeface="Arial"/>
              </a:defRPr>
            </a:pPr>
            <a:r>
              <a:t>&lt; 0.005s</a:t>
            </a:r>
          </a:p>
          <a:p>
            <a:pPr>
              <a:spcBef>
                <a:spcPts val="600"/>
              </a:spcBef>
              <a:defRPr sz="1100">
                <a:solidFill>
                  <a:srgbClr val="A1A1AA"/>
                </a:solidFill>
                <a:latin typeface="Arial"/>
              </a:defRPr>
            </a:pPr>
            <a:r>
              <a:t>Pure static AST parsing latency with zero LLM hallucination.</a:t>
            </a:r>
          </a:p>
        </p:txBody>
      </p:sp>
      <p:sp>
        <p:nvSpPr>
          <p:cNvPr id="5" name="Rounded Rectangle 4"/>
          <p:cNvSpPr/>
          <p:nvPr/>
        </p:nvSpPr>
        <p:spPr>
          <a:xfrm>
            <a:off x="7863840" y="4572000"/>
            <a:ext cx="3200400" cy="16459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Automated Tests</a:t>
            </a:r>
          </a:p>
          <a:p>
            <a:pPr>
              <a:defRPr sz="2800" b="1">
                <a:solidFill>
                  <a:srgbClr val="F59E0B"/>
                </a:solidFill>
                <a:latin typeface="Arial"/>
              </a:defRPr>
            </a:pPr>
            <a:r>
              <a:t>146 / 146</a:t>
            </a:r>
          </a:p>
          <a:p>
            <a:pPr>
              <a:spcBef>
                <a:spcPts val="600"/>
              </a:spcBef>
              <a:defRPr sz="1100">
                <a:solidFill>
                  <a:srgbClr val="A1A1AA"/>
                </a:solidFill>
                <a:latin typeface="Arial"/>
              </a:defRPr>
            </a:pPr>
            <a:r>
              <a:t>Exhaustive suite verifying AST, ranking, selection, &amp; TinyFish.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INDUSTRY CHALLENGE</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The High Cost of Blind Test Execution in CI/CD</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Every engineering team executes test suites alphabetically or arbitrarily. When regressions happen, feedback is delayed by minutes to hours.</a:t>
            </a:r>
          </a:p>
        </p:txBody>
      </p:sp>
      <p:sp>
        <p:nvSpPr>
          <p:cNvPr id="5" name="Rounded Rectangle 4"/>
          <p:cNvSpPr/>
          <p:nvPr/>
        </p:nvSpPr>
        <p:spPr>
          <a:xfrm>
            <a:off x="731520" y="201168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[FLAW 1]  Alphabetical Blindness</a:t>
            </a:r>
          </a:p>
          <a:p>
            <a:pPr>
              <a:spcBef>
                <a:spcPts val="600"/>
              </a:spcBef>
              <a:defRPr sz="1100">
                <a:solidFill>
                  <a:srgbClr val="A1A1AA"/>
                </a:solidFill>
                <a:latin typeface="Arial"/>
              </a:defRPr>
            </a:pPr>
            <a:r>
              <a:t>Standard runners like Pytest execute test_a.py before test_z.py regardless of what files changed.</a:t>
            </a:r>
            <a:br/>
            <a:br/>
            <a:r>
              <a:t>• A bug introduced in checkout.py waits while unrelated cart, inventory, and auth tests execute first.</a:t>
            </a:r>
            <a:br/>
            <a:r>
              <a:t>• Feedback arrives after 20 to 45 minutes instead of seconds.</a:t>
            </a:r>
          </a:p>
        </p:txBody>
      </p:sp>
      <p:sp>
        <p:nvSpPr>
          <p:cNvPr id="6" name="Rounded Rectangle 5"/>
          <p:cNvSpPr/>
          <p:nvPr/>
        </p:nvSpPr>
        <p:spPr>
          <a:xfrm>
            <a:off x="4389120" y="201168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[FLAW 2]  Wasted Cloud Compute</a:t>
            </a:r>
          </a:p>
          <a:p>
            <a:pPr>
              <a:spcBef>
                <a:spcPts val="600"/>
              </a:spcBef>
              <a:defRPr sz="1100">
                <a:solidFill>
                  <a:srgbClr val="A1A1AA"/>
                </a:solidFill>
                <a:latin typeface="Arial"/>
              </a:defRPr>
            </a:pPr>
            <a:r>
              <a:t>GitHub Actions, GitLab CI, and AWS CodeBuild burn expensive compute credits executing passing tests.</a:t>
            </a:r>
            <a:br/>
            <a:br/>
            <a:r>
              <a:t>• If test #800 fails, the previous 799 passing tests were executed for nothing.</a:t>
            </a:r>
            <a:br/>
            <a:r>
              <a:t>• Enterprise CI pipelines spend 40% of their compute budgets on doomed builds.</a:t>
            </a:r>
          </a:p>
        </p:txBody>
      </p:sp>
      <p:sp>
        <p:nvSpPr>
          <p:cNvPr id="7" name="Rounded Rectangle 6"/>
          <p:cNvSpPr/>
          <p:nvPr/>
        </p:nvSpPr>
        <p:spPr>
          <a:xfrm>
            <a:off x="8046720" y="201168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[FLAW 3]  Developer Flow State Ruined</a:t>
            </a:r>
          </a:p>
          <a:p>
            <a:pPr>
              <a:spcBef>
                <a:spcPts val="600"/>
              </a:spcBef>
              <a:defRPr sz="1100">
                <a:solidFill>
                  <a:srgbClr val="A1A1AA"/>
                </a:solidFill>
                <a:latin typeface="Arial"/>
              </a:defRPr>
            </a:pPr>
            <a:r>
              <a:t>Engineers context-switch while waiting for test runs.</a:t>
            </a:r>
            <a:br/>
            <a:br/>
            <a:r>
              <a:t>• By the time CI alerts them of a failure, they are working on a completely different feature.</a:t>
            </a:r>
            <a:br/>
            <a:r>
              <a:t>• Fast fail-fast feedback preserves focus, accelerates PR merges, and prevents blocker bottlenecks.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CORE INNOVATION</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Bidirectional AST Dependency Mapping</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Traditional impact analysis only looks downstream. TestPrioritize AI proves bidirectional static traversal.</a:t>
            </a:r>
          </a:p>
        </p:txBody>
      </p:sp>
      <p:sp>
        <p:nvSpPr>
          <p:cNvPr id="5" name="Rounded Rectangle 4"/>
          <p:cNvSpPr/>
          <p:nvPr/>
        </p:nvSpPr>
        <p:spPr>
          <a:xfrm>
            <a:off x="731520" y="2011680"/>
            <a:ext cx="5120640" cy="21031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[DIRECT]  Direction 1: Direct Matching (+50 pts)</a:t>
            </a:r>
          </a:p>
          <a:p>
            <a:pPr>
              <a:spcBef>
                <a:spcPts val="600"/>
              </a:spcBef>
              <a:defRPr sz="1100">
                <a:solidFill>
                  <a:srgbClr val="A1A1AA"/>
                </a:solidFill>
                <a:latin typeface="Arial"/>
              </a:defRPr>
            </a:pPr>
            <a:r>
              <a:t>Maps the changed source module directly to its corresponding unit test file (e.g., src/checkout.py -&gt; tests/test_checkout.py).</a:t>
            </a:r>
          </a:p>
        </p:txBody>
      </p:sp>
      <p:sp>
        <p:nvSpPr>
          <p:cNvPr id="6" name="Rounded Rectangle 5"/>
          <p:cNvSpPr/>
          <p:nvPr/>
        </p:nvSpPr>
        <p:spPr>
          <a:xfrm>
            <a:off x="6217920" y="2011680"/>
            <a:ext cx="5120640" cy="21031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[UPSTREAM AST]  Direction 2: Upstream Imports (+25 pts)</a:t>
            </a:r>
          </a:p>
          <a:p>
            <a:pPr>
              <a:spcBef>
                <a:spcPts val="600"/>
              </a:spcBef>
              <a:defRPr sz="1100">
                <a:solidFill>
                  <a:srgbClr val="A1A1AA"/>
                </a:solidFill>
                <a:latin typeface="Arial"/>
              </a:defRPr>
            </a:pPr>
            <a:r>
              <a:t>Parses what the changed file imports (e.g., checkout.py imports cart.py). If checkout modifies cart assumptions, tests/test_cart.py is pulled into the candidate plan.</a:t>
            </a:r>
          </a:p>
        </p:txBody>
      </p:sp>
      <p:sp>
        <p:nvSpPr>
          <p:cNvPr id="7" name="Rounded Rectangle 6"/>
          <p:cNvSpPr/>
          <p:nvPr/>
        </p:nvSpPr>
        <p:spPr>
          <a:xfrm>
            <a:off x="731520" y="4389120"/>
            <a:ext cx="5120640" cy="201168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[DOWNSTREAM AST]  Direction 3: Downstream Callers (+25 pts)</a:t>
            </a:r>
          </a:p>
          <a:p>
            <a:pPr>
              <a:spcBef>
                <a:spcPts val="600"/>
              </a:spcBef>
              <a:defRPr sz="1100">
                <a:solidFill>
                  <a:srgbClr val="A1A1AA"/>
                </a:solidFill>
                <a:latin typeface="Arial"/>
              </a:defRPr>
            </a:pPr>
            <a:r>
              <a:t>Discovers existing modules that depend on the changed file, ensuring downstream regressions are prioritized immediately.</a:t>
            </a:r>
          </a:p>
        </p:txBody>
      </p:sp>
      <p:sp>
        <p:nvSpPr>
          <p:cNvPr id="8" name="Rounded Rectangle 7"/>
          <p:cNvSpPr/>
          <p:nvPr/>
        </p:nvSpPr>
        <p:spPr>
          <a:xfrm>
            <a:off x="6217920" y="4389120"/>
            <a:ext cx="5120640" cy="201168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[DIFF AST]  Direction 4: Diff Function &amp; Lexical Scoring (+20 pts)</a:t>
            </a:r>
          </a:p>
          <a:p>
            <a:pPr>
              <a:spcBef>
                <a:spcPts val="600"/>
              </a:spcBef>
              <a:defRPr sz="1100">
                <a:solidFill>
                  <a:srgbClr val="A1A1AA"/>
                </a:solidFill>
                <a:latin typeface="Arial"/>
              </a:defRPr>
            </a:pPr>
            <a:r>
              <a:t>AST visitors inspect the git diff to identify exact modified function lines and behavioral tokens, elevating test functions that directly exercise modified lines.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ENGINEERING ARCHITECTURE</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5-Stage End-to-End Execution Pipeline</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Zero global mutation, temporary isolated clones, and monotonic microsecond event capture.</a:t>
            </a:r>
          </a:p>
        </p:txBody>
      </p:sp>
      <p:sp>
        <p:nvSpPr>
          <p:cNvPr id="5" name="Rounded Rectangle 4"/>
          <p:cNvSpPr/>
          <p:nvPr/>
        </p:nvSpPr>
        <p:spPr>
          <a:xfrm>
            <a:off x="731520" y="2103120"/>
            <a:ext cx="2011680" cy="237744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[01. INGESTION]  Git Diff Checker</a:t>
            </a:r>
          </a:p>
          <a:p>
            <a:pPr>
              <a:spcBef>
                <a:spcPts val="600"/>
              </a:spcBef>
              <a:defRPr sz="1100">
                <a:solidFill>
                  <a:srgbClr val="A1A1AA"/>
                </a:solidFill>
                <a:latin typeface="Arial"/>
              </a:defRPr>
            </a:pPr>
            <a:r>
              <a:t>Parses base..target unified diffs, modified hunks, and line boundaries.</a:t>
            </a:r>
          </a:p>
        </p:txBody>
      </p:sp>
      <p:sp>
        <p:nvSpPr>
          <p:cNvPr id="6" name="Rounded Rectangle 5"/>
          <p:cNvSpPr/>
          <p:nvPr/>
        </p:nvSpPr>
        <p:spPr>
          <a:xfrm>
            <a:off x="2907791" y="2103120"/>
            <a:ext cx="2011680" cy="237744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[02. PARSER]  AST Static Engine</a:t>
            </a:r>
          </a:p>
          <a:p>
            <a:pPr>
              <a:spcBef>
                <a:spcPts val="600"/>
              </a:spcBef>
              <a:defRPr sz="1100">
                <a:solidFill>
                  <a:srgbClr val="A1A1AA"/>
                </a:solidFill>
                <a:latin typeface="Arial"/>
              </a:defRPr>
            </a:pPr>
            <a:r>
              <a:t>Builds syntax tree in memory in &lt; 5ms without executing untrusted code.</a:t>
            </a:r>
          </a:p>
        </p:txBody>
      </p:sp>
      <p:sp>
        <p:nvSpPr>
          <p:cNvPr id="7" name="Rounded Rectangle 6"/>
          <p:cNvSpPr/>
          <p:nvPr/>
        </p:nvSpPr>
        <p:spPr>
          <a:xfrm>
            <a:off x="5084064" y="2103120"/>
            <a:ext cx="2011680" cy="237744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[03. SCORER]  Deterministic Ranking</a:t>
            </a:r>
          </a:p>
          <a:p>
            <a:pPr>
              <a:spcBef>
                <a:spcPts val="600"/>
              </a:spcBef>
              <a:defRPr sz="1100">
                <a:solidFill>
                  <a:srgbClr val="A1A1AA"/>
                </a:solidFill>
                <a:latin typeface="Arial"/>
              </a:defRPr>
            </a:pPr>
            <a:r>
              <a:t>Direct (50) + AST (25) + Diff (20) into HIGH, MEDIUM, and LOW tiers.</a:t>
            </a:r>
          </a:p>
        </p:txBody>
      </p:sp>
      <p:sp>
        <p:nvSpPr>
          <p:cNvPr id="8" name="Rounded Rectangle 7"/>
          <p:cNvSpPr/>
          <p:nvPr/>
        </p:nvSpPr>
        <p:spPr>
          <a:xfrm>
            <a:off x="7260336" y="2103120"/>
            <a:ext cx="2011680" cy="237744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[04. ISOLATION]  Pytest Orchestrator</a:t>
            </a:r>
          </a:p>
          <a:p>
            <a:pPr>
              <a:spcBef>
                <a:spcPts val="600"/>
              </a:spcBef>
              <a:defRPr sz="1100">
                <a:solidFill>
                  <a:srgbClr val="A1A1AA"/>
                </a:solidFill>
                <a:latin typeface="Arial"/>
              </a:defRPr>
            </a:pPr>
            <a:r>
              <a:t>Runs in fresh temporary clones with fail-fast (-x) and monotonic timers.</a:t>
            </a:r>
          </a:p>
        </p:txBody>
      </p:sp>
      <p:sp>
        <p:nvSpPr>
          <p:cNvPr id="9" name="Rounded Rectangle 8"/>
          <p:cNvSpPr/>
          <p:nvPr/>
        </p:nvSpPr>
        <p:spPr>
          <a:xfrm>
            <a:off x="9436608" y="2103120"/>
            <a:ext cx="2011680" cy="237744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[05. INTEL]  TinyFish REST API</a:t>
            </a:r>
          </a:p>
          <a:p>
            <a:pPr>
              <a:spcBef>
                <a:spcPts val="600"/>
              </a:spcBef>
              <a:defRPr sz="1100">
                <a:solidFill>
                  <a:srgbClr val="A1A1AA"/>
                </a:solidFill>
                <a:latin typeface="Arial"/>
              </a:defRPr>
            </a:pPr>
            <a:r>
              <a:t>External search queries on requirements.txt deltas for breaking changes.</a:t>
            </a:r>
          </a:p>
        </p:txBody>
      </p:sp>
      <p:sp>
        <p:nvSpPr>
          <p:cNvPr id="10" name="Rounded Rectangle 9"/>
          <p:cNvSpPr/>
          <p:nvPr/>
        </p:nvSpPr>
        <p:spPr>
          <a:xfrm>
            <a:off x="731520" y="4754880"/>
            <a:ext cx="5120640" cy="16459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[SAFETY]  Pristine Clone Isolation</a:t>
            </a:r>
          </a:p>
          <a:p>
            <a:pPr>
              <a:spcBef>
                <a:spcPts val="600"/>
              </a:spcBef>
              <a:defRPr sz="1100">
                <a:solidFill>
                  <a:srgbClr val="A1A1AA"/>
                </a:solidFill>
                <a:latin typeface="Arial"/>
              </a:defRPr>
            </a:pPr>
            <a:r>
              <a:t>Standard and prioritized benchmark runs execute in separate, pristine temp directories so state mutation from one run never corrupts the other.</a:t>
            </a:r>
          </a:p>
        </p:txBody>
      </p:sp>
      <p:sp>
        <p:nvSpPr>
          <p:cNvPr id="11" name="Rounded Rectangle 10"/>
          <p:cNvSpPr/>
          <p:nvPr/>
        </p:nvSpPr>
        <p:spPr>
          <a:xfrm>
            <a:off x="6217920" y="4754880"/>
            <a:ext cx="5120640" cy="16459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[REALITY]  Real Pytest Subprocess Events</a:t>
            </a:r>
          </a:p>
          <a:p>
            <a:pPr>
              <a:spcBef>
                <a:spcPts val="600"/>
              </a:spcBef>
              <a:defRPr sz="1100">
                <a:solidFill>
                  <a:srgbClr val="A1A1AA"/>
                </a:solidFill>
                <a:latin typeface="Arial"/>
              </a:defRPr>
            </a:pPr>
            <a:r>
              <a:t>Custom embedded pytest hook streams exact execution events (node ID, duration, sequence number, outcome) directly from real subprocess execution.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EMPIRICAL VALIDATION</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Live Benchmark Proof: 13 Tests Faster Detection</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Direct side-by-side benchmark executing 32 real tests under isolated Pytest fail-fast conditions.</a:t>
            </a:r>
          </a:p>
        </p:txBody>
      </p:sp>
      <p:sp>
        <p:nvSpPr>
          <p:cNvPr id="5" name="Rounded Rectangle 4"/>
          <p:cNvSpPr/>
          <p:nvPr/>
        </p:nvSpPr>
        <p:spPr>
          <a:xfrm>
            <a:off x="7315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[STANDARD]  Standard Execution</a:t>
            </a:r>
          </a:p>
          <a:p>
            <a:pPr>
              <a:defRPr sz="2800" b="1">
                <a:solidFill>
                  <a:srgbClr val="F87171"/>
                </a:solidFill>
                <a:latin typeface="Arial"/>
              </a:defRPr>
            </a:pPr>
            <a:r>
              <a:t>Position #14</a:t>
            </a:r>
          </a:p>
          <a:p>
            <a:pPr>
              <a:spcBef>
                <a:spcPts val="600"/>
              </a:spcBef>
              <a:defRPr sz="1100">
                <a:solidFill>
                  <a:srgbClr val="A1A1AA"/>
                </a:solidFill>
                <a:latin typeface="Arial"/>
              </a:defRPr>
            </a:pPr>
            <a:r>
              <a:t>• Standard Alphabetical order: tests/test_cart.py runs before tests/test_checkout.py</a:t>
            </a:r>
            <a:br/>
            <a:br/>
            <a:r>
              <a:t>• 13 passing cart tests execute first</a:t>
            </a:r>
            <a:br/>
            <a:br/>
            <a:r>
              <a:t>• Regression caught at: Position #14</a:t>
            </a:r>
            <a:br/>
            <a:br/>
            <a:r>
              <a:t>• Wall-clock time: 0.1450s</a:t>
            </a:r>
            <a:br/>
            <a:br/>
            <a:r>
              <a:t>• Result: Delayed feedback</a:t>
            </a:r>
          </a:p>
        </p:txBody>
      </p:sp>
      <p:sp>
        <p:nvSpPr>
          <p:cNvPr id="6" name="Rounded Rectangle 5"/>
          <p:cNvSpPr/>
          <p:nvPr/>
        </p:nvSpPr>
        <p:spPr>
          <a:xfrm>
            <a:off x="43891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[PRIORITIZED]  Prioritized AST Mode</a:t>
            </a:r>
          </a:p>
          <a:p>
            <a:pPr>
              <a:defRPr sz="2800" b="1">
                <a:solidFill>
                  <a:srgbClr val="34D399"/>
                </a:solidFill>
                <a:latin typeface="Arial"/>
              </a:defRPr>
            </a:pPr>
            <a:r>
              <a:t>Position #1</a:t>
            </a:r>
          </a:p>
          <a:p>
            <a:pPr>
              <a:spcBef>
                <a:spcPts val="600"/>
              </a:spcBef>
              <a:defRPr sz="1100">
                <a:solidFill>
                  <a:srgbClr val="A1A1AA"/>
                </a:solidFill>
                <a:latin typeface="Arial"/>
              </a:defRPr>
            </a:pPr>
            <a:r>
              <a:t>• AST identifies checkout.py modification</a:t>
            </a:r>
            <a:br/>
            <a:br/>
            <a:r>
              <a:t>• Elevates tests/test_checkout.py::test_apply_tax_fractional_precision</a:t>
            </a:r>
            <a:br/>
            <a:br/>
            <a:r>
              <a:t>• Regression caught at: Position #1</a:t>
            </a:r>
            <a:br/>
            <a:br/>
            <a:r>
              <a:t>• Wall-clock time: 0.0210s</a:t>
            </a:r>
            <a:br/>
            <a:br/>
            <a:r>
              <a:t>• Result: Immediate fail-fast termination</a:t>
            </a:r>
          </a:p>
        </p:txBody>
      </p:sp>
      <p:sp>
        <p:nvSpPr>
          <p:cNvPr id="7" name="Rounded Rectangle 6"/>
          <p:cNvSpPr/>
          <p:nvPr/>
        </p:nvSpPr>
        <p:spPr>
          <a:xfrm>
            <a:off x="80467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[SAVINGS]  Net Business Gain</a:t>
            </a:r>
          </a:p>
          <a:p>
            <a:pPr>
              <a:defRPr sz="2800" b="1">
                <a:solidFill>
                  <a:srgbClr val="60A5FA"/>
                </a:solidFill>
                <a:latin typeface="Arial"/>
              </a:defRPr>
            </a:pPr>
            <a:r>
              <a:t>+13 Tests Ahead</a:t>
            </a:r>
          </a:p>
          <a:p>
            <a:pPr>
              <a:spcBef>
                <a:spcPts val="600"/>
              </a:spcBef>
              <a:defRPr sz="1100">
                <a:solidFill>
                  <a:srgbClr val="A1A1AA"/>
                </a:solidFill>
                <a:latin typeface="Arial"/>
              </a:defRPr>
            </a:pPr>
            <a:r>
              <a:t>• Tests moved ahead: +13 tests</a:t>
            </a:r>
            <a:br/>
            <a:br/>
            <a:r>
              <a:t>• Time saved to first failure: 85.5% faster detection</a:t>
            </a:r>
            <a:br/>
            <a:br/>
            <a:r>
              <a:t>• Static analysis overhead: 0.003s</a:t>
            </a:r>
            <a:br/>
            <a:br/>
            <a:r>
              <a:t>• Cloud compute saved: 93% of execution aborted immediately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NEW FEATURE</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User-Controlled Test Selection (Top-N &amp; Manual)</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Engineers maintain complete agency over execution with bounded numeric inputs and granular node checklists.</a:t>
            </a:r>
          </a:p>
        </p:txBody>
      </p:sp>
      <p:sp>
        <p:nvSpPr>
          <p:cNvPr id="5" name="Rounded Rectangle 4"/>
          <p:cNvSpPr/>
          <p:nvPr/>
        </p:nvSpPr>
        <p:spPr>
          <a:xfrm>
            <a:off x="7315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[MODE A]  Top-N Ranked Mode</a:t>
            </a:r>
          </a:p>
          <a:p>
            <a:pPr>
              <a:spcBef>
                <a:spcPts val="600"/>
              </a:spcBef>
              <a:defRPr sz="1100">
                <a:solidFill>
                  <a:srgbClr val="A1A1AA"/>
                </a:solidFill>
                <a:latin typeface="Arial"/>
              </a:defRPr>
            </a:pPr>
            <a:r>
              <a:t>User chooses N (e.g. Top 4 tests).</a:t>
            </a:r>
            <a:br/>
            <a:br/>
            <a:r>
              <a:t>• Selects precisely the top N ranked candidates based on actual AST relevance.</a:t>
            </a:r>
            <a:br/>
            <a:br/>
            <a:r>
              <a:t>• Prioritized mode executes in descending rank order.</a:t>
            </a:r>
            <a:br/>
            <a:br/>
            <a:r>
              <a:t>• Standard mode executes the same N candidates in alphabetical order.</a:t>
            </a:r>
            <a:br/>
            <a:br/>
            <a:r>
              <a:t>• Does not run unselected tests.</a:t>
            </a:r>
          </a:p>
        </p:txBody>
      </p:sp>
      <p:sp>
        <p:nvSpPr>
          <p:cNvPr id="6" name="Rounded Rectangle 5"/>
          <p:cNvSpPr/>
          <p:nvPr/>
        </p:nvSpPr>
        <p:spPr>
          <a:xfrm>
            <a:off x="43891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[MODE B]  Manual Selection Mode</a:t>
            </a:r>
          </a:p>
          <a:p>
            <a:pPr>
              <a:spcBef>
                <a:spcPts val="600"/>
              </a:spcBef>
              <a:defRPr sz="1100">
                <a:solidFill>
                  <a:srgbClr val="A1A1AA"/>
                </a:solidFill>
                <a:latin typeface="Arial"/>
              </a:defRPr>
            </a:pPr>
            <a:r>
              <a:t>Granular checklist of pytest test nodes.</a:t>
            </a:r>
            <a:br/>
            <a:br/>
            <a:r>
              <a:t>• Displays [TIER | SCORE pts] node_id with plain-English ranking rationale.</a:t>
            </a:r>
            <a:br/>
            <a:br/>
            <a:r>
              <a:t>• Action buttons: Select All and Clear Selection.</a:t>
            </a:r>
            <a:br/>
            <a:br/>
            <a:r>
              <a:t>• Validates empty selection with clear guidance.</a:t>
            </a:r>
            <a:br/>
            <a:br/>
            <a:r>
              <a:t>• Session state isolated per repo/scenario.</a:t>
            </a:r>
          </a:p>
        </p:txBody>
      </p:sp>
      <p:sp>
        <p:nvSpPr>
          <p:cNvPr id="7" name="Rounded Rectangle 6"/>
          <p:cNvSpPr/>
          <p:nvPr/>
        </p:nvSpPr>
        <p:spPr>
          <a:xfrm>
            <a:off x="80467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[INTEGRITY]  Execution Correctness</a:t>
            </a:r>
          </a:p>
          <a:p>
            <a:pPr>
              <a:spcBef>
                <a:spcPts val="600"/>
              </a:spcBef>
              <a:defRPr sz="1100">
                <a:solidFill>
                  <a:srgbClr val="A1A1AA"/>
                </a:solidFill>
                <a:latin typeface="Arial"/>
              </a:defRPr>
            </a:pPr>
            <a:r>
              <a:t>Guarantees subset integrity:</a:t>
            </a:r>
            <a:br/>
            <a:br/>
            <a:r>
              <a:t>• Fail-fast terminates immediately on first failure in a subset.</a:t>
            </a:r>
            <a:br/>
            <a:br/>
            <a:r>
              <a:t>• Symmetrical subset applied to both benchmark runs.</a:t>
            </a:r>
            <a:br/>
            <a:br/>
            <a:r>
              <a:t>• Prominent warning banner: Explains that subset run does not verify entire app.</a:t>
            </a:r>
            <a:br/>
            <a:br/>
            <a:r>
              <a:t>• Zero cache poisoning.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EXTERNAL RISK INTELLIGENCE</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TinyFish Search REST API Integration</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Queries real-time web intelligence when requirements.txt changes to boost tests exercising breaking dependencies.</a:t>
            </a:r>
          </a:p>
        </p:txBody>
      </p:sp>
      <p:sp>
        <p:nvSpPr>
          <p:cNvPr id="5" name="Rounded Rectangle 4"/>
          <p:cNvSpPr/>
          <p:nvPr/>
        </p:nvSpPr>
        <p:spPr>
          <a:xfrm>
            <a:off x="731520" y="2103120"/>
            <a:ext cx="51206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[ARCHITECTURE]  REST API Architecture</a:t>
            </a:r>
          </a:p>
          <a:p>
            <a:pPr>
              <a:spcBef>
                <a:spcPts val="600"/>
              </a:spcBef>
              <a:defRPr sz="1100">
                <a:solidFill>
                  <a:srgbClr val="A1A1AA"/>
                </a:solidFill>
                <a:latin typeface="Arial"/>
              </a:defRPr>
            </a:pPr>
            <a:r>
              <a:t>Targeted queries against api.search.tinyfish.ai:</a:t>
            </a:r>
            <a:br/>
            <a:br/>
            <a:r>
              <a:t>• Secure Header Authentication: X-API-Key passed via environment variable.</a:t>
            </a:r>
            <a:br/>
            <a:br/>
            <a:r>
              <a:t>• Automated Query Construction: e.g., 'Flask 3.0.0 breaking changes release notes CVE'.</a:t>
            </a:r>
            <a:br/>
            <a:br/>
            <a:r>
              <a:t>• Robust Error Handling: Structured fallback on timeouts, HTTP errors, or missing keys without crashing the pipeline.</a:t>
            </a:r>
            <a:br/>
            <a:br/>
            <a:r>
              <a:t>• Real-time Release Note Extraction: Parses snippets for deprecations and major breaking changes.</a:t>
            </a:r>
          </a:p>
        </p:txBody>
      </p:sp>
      <p:sp>
        <p:nvSpPr>
          <p:cNvPr id="6" name="Rounded Rectangle 5"/>
          <p:cNvSpPr/>
          <p:nvPr/>
        </p:nvSpPr>
        <p:spPr>
          <a:xfrm>
            <a:off x="6217920" y="2103120"/>
            <a:ext cx="51206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[SCORING IMPACT]  Risk-Weighted Ranking Impact</a:t>
            </a:r>
          </a:p>
          <a:p>
            <a:pPr>
              <a:defRPr sz="2800" b="1">
                <a:solidFill>
                  <a:srgbClr val="F59E0B"/>
                </a:solidFill>
                <a:latin typeface="Arial"/>
              </a:defRPr>
            </a:pPr>
            <a:r>
              <a:t>+20 Pts Boost</a:t>
            </a:r>
          </a:p>
          <a:p>
            <a:pPr>
              <a:spcBef>
                <a:spcPts val="600"/>
              </a:spcBef>
              <a:defRPr sz="1100">
                <a:solidFill>
                  <a:srgbClr val="A1A1AA"/>
                </a:solidFill>
                <a:latin typeface="Arial"/>
              </a:defRPr>
            </a:pPr>
            <a:r>
              <a:t>Dynamic Score Elevation:</a:t>
            </a:r>
            <a:br/>
            <a:br/>
            <a:r>
              <a:t>• Verified Breaking Changes: Test files importing updated package receive +20 pt risk boost (Priority HIGH).</a:t>
            </a:r>
            <a:br/>
            <a:br/>
            <a:r>
              <a:t>• Deprecation Advisories: Receive +10 pt risk boost (Priority MEDIUM).</a:t>
            </a:r>
            <a:br/>
            <a:br/>
            <a:r>
              <a:t>• Baseline Dependencies: Unchanged packages remain at normal baseline.</a:t>
            </a:r>
            <a:br/>
            <a:br/>
            <a:r>
              <a:t>• Result: Catches upstream breaking changes before shipping to production.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DOMAIN BREADTH</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4 Independent Demo Repositories (83 Real Tests)</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Self-contained, reproducible git repositories with real business logic and genuine unit tests.</a:t>
            </a:r>
          </a:p>
        </p:txBody>
      </p:sp>
      <p:sp>
        <p:nvSpPr>
          <p:cNvPr id="5" name="Rounded Rectangle 4"/>
          <p:cNvSpPr/>
          <p:nvPr/>
        </p:nvSpPr>
        <p:spPr>
          <a:xfrm>
            <a:off x="731520" y="2103120"/>
            <a:ext cx="256032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[32 Tests]  E-Commerce Platform</a:t>
            </a:r>
          </a:p>
          <a:p>
            <a:pPr>
              <a:spcBef>
                <a:spcPts val="600"/>
              </a:spcBef>
              <a:defRPr sz="1100">
                <a:solidFill>
                  <a:srgbClr val="A1A1AA"/>
                </a:solidFill>
                <a:latin typeface="Arial"/>
              </a:defRPr>
            </a:pPr>
            <a:r>
              <a:t>Cart totals, coupon rules, checkout precision, and inventory limits.</a:t>
            </a:r>
            <a:br/>
            <a:br/>
            <a:r>
              <a:t>Scenario: Currency Rounding Bug (surfaced 13 tests earlier).</a:t>
            </a:r>
          </a:p>
        </p:txBody>
      </p:sp>
      <p:sp>
        <p:nvSpPr>
          <p:cNvPr id="6" name="Rounded Rectangle 5"/>
          <p:cNvSpPr/>
          <p:nvPr/>
        </p:nvSpPr>
        <p:spPr>
          <a:xfrm>
            <a:off x="3429000" y="2103120"/>
            <a:ext cx="256032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[17 Tests]  Authentication Service</a:t>
            </a:r>
          </a:p>
          <a:p>
            <a:pPr>
              <a:spcBef>
                <a:spcPts val="600"/>
              </a:spcBef>
              <a:defRPr sz="1100">
                <a:solidFill>
                  <a:srgbClr val="A1A1AA"/>
                </a:solidFill>
                <a:latin typeface="Arial"/>
              </a:defRPr>
            </a:pPr>
            <a:r>
              <a:t>Token expiration, password hashing, user session lifetimes, and RBAC privileges.</a:t>
            </a:r>
            <a:br/>
            <a:br/>
            <a:r>
              <a:t>Scenario: Expired Token Bypass Bug.</a:t>
            </a:r>
          </a:p>
        </p:txBody>
      </p:sp>
      <p:sp>
        <p:nvSpPr>
          <p:cNvPr id="7" name="Rounded Rectangle 6"/>
          <p:cNvSpPr/>
          <p:nvPr/>
        </p:nvSpPr>
        <p:spPr>
          <a:xfrm>
            <a:off x="6126480" y="2103120"/>
            <a:ext cx="256032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[17 Tests]  Payment Gateway</a:t>
            </a:r>
          </a:p>
          <a:p>
            <a:pPr>
              <a:spcBef>
                <a:spcPts val="600"/>
              </a:spcBef>
              <a:defRPr sz="1100">
                <a:solidFill>
                  <a:srgbClr val="A1A1AA"/>
                </a:solidFill>
                <a:latin typeface="Arial"/>
              </a:defRPr>
            </a:pPr>
            <a:r>
              <a:t>Credit card Luhn algorithm validation, invoice amounts, charges, and refunds.</a:t>
            </a:r>
            <a:br/>
            <a:br/>
            <a:r>
              <a:t>Scenario: Zero-Amount Refund Bug.</a:t>
            </a:r>
          </a:p>
        </p:txBody>
      </p:sp>
      <p:sp>
        <p:nvSpPr>
          <p:cNvPr id="8" name="Rounded Rectangle 7"/>
          <p:cNvSpPr/>
          <p:nvPr/>
        </p:nvSpPr>
        <p:spPr>
          <a:xfrm>
            <a:off x="8823960" y="2103120"/>
            <a:ext cx="256032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[17 Tests]  Booking Platform</a:t>
            </a:r>
          </a:p>
          <a:p>
            <a:pPr>
              <a:spcBef>
                <a:spcPts val="600"/>
              </a:spcBef>
              <a:defRPr sz="1100">
                <a:solidFill>
                  <a:srgbClr val="A1A1AA"/>
                </a:solidFill>
                <a:latin typeface="Arial"/>
              </a:defRPr>
            </a:pPr>
            <a:r>
              <a:t>Slot availability scheduling, hourly rate calculations, bookings, and alerts.</a:t>
            </a:r>
            <a:br/>
            <a:br/>
            <a:r>
              <a:t>Scenario: Notification Contract Bug.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ENGINEERING RIGOR</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146 Automated Tests • 100% Pass Rate</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Uncompromising software quality with exhaustive test coverage, linear dark aesthetics, and zero code mutation.</a:t>
            </a:r>
          </a:p>
        </p:txBody>
      </p:sp>
      <p:sp>
        <p:nvSpPr>
          <p:cNvPr id="5" name="Rounded Rectangle 4"/>
          <p:cNvSpPr/>
          <p:nvPr/>
        </p:nvSpPr>
        <p:spPr>
          <a:xfrm>
            <a:off x="7315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[COVERAGE]  Automated Test Suite</a:t>
            </a:r>
          </a:p>
          <a:p>
            <a:pPr>
              <a:defRPr sz="2800" b="1">
                <a:solidFill>
                  <a:srgbClr val="34D399"/>
                </a:solidFill>
                <a:latin typeface="Arial"/>
              </a:defRPr>
            </a:pPr>
            <a:r>
              <a:t>146 / 146 Passed</a:t>
            </a:r>
          </a:p>
          <a:p>
            <a:pPr>
              <a:spcBef>
                <a:spcPts val="600"/>
              </a:spcBef>
              <a:defRPr sz="1100">
                <a:solidFill>
                  <a:srgbClr val="A1A1AA"/>
                </a:solidFill>
                <a:latin typeface="Arial"/>
              </a:defRPr>
            </a:pPr>
            <a:r>
              <a:t>• 146 unit &amp; integration tests passing in 67s</a:t>
            </a:r>
            <a:br/>
            <a:br/>
            <a:r>
              <a:t>• Covers AST parsing, bidirectional mapping, ranking heuristics, isolated Pytest runners, and TinyFish.</a:t>
            </a:r>
            <a:br/>
            <a:br/>
            <a:r>
              <a:t>• 11 dedicated selection tests verifying Top-N, manual checklists, and symmetrical subsetting.</a:t>
            </a:r>
          </a:p>
        </p:txBody>
      </p:sp>
      <p:sp>
        <p:nvSpPr>
          <p:cNvPr id="6" name="Rounded Rectangle 5"/>
          <p:cNvSpPr/>
          <p:nvPr/>
        </p:nvSpPr>
        <p:spPr>
          <a:xfrm>
            <a:off x="43891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[UI / UX]  Design Aesthetics</a:t>
            </a:r>
          </a:p>
          <a:p>
            <a:pPr>
              <a:defRPr sz="2800" b="1">
                <a:solidFill>
                  <a:srgbClr val="FAFAFA"/>
                </a:solidFill>
                <a:latin typeface="Arial"/>
              </a:defRPr>
            </a:pPr>
            <a:r>
              <a:t>Linear Dark</a:t>
            </a:r>
          </a:p>
          <a:p>
            <a:pPr>
              <a:spcBef>
                <a:spcPts val="600"/>
              </a:spcBef>
              <a:defRPr sz="1100">
                <a:solidFill>
                  <a:srgbClr val="A1A1AA"/>
                </a:solidFill>
                <a:latin typeface="Arial"/>
              </a:defRPr>
            </a:pPr>
            <a:r>
              <a:t>• Linear &amp; Vercel-inspired monochrome dark design system.</a:t>
            </a:r>
            <a:br/>
            <a:br/>
            <a:r>
              <a:t>• JetBrains Mono font for tabular alignment.</a:t>
            </a:r>
            <a:br/>
            <a:br/>
            <a:r>
              <a:t>• Chronological timeline event tables.</a:t>
            </a:r>
            <a:br/>
            <a:br/>
            <a:r>
              <a:t>• Responsive sidebar controls with real-time plan preview.</a:t>
            </a:r>
          </a:p>
        </p:txBody>
      </p:sp>
      <p:sp>
        <p:nvSpPr>
          <p:cNvPr id="7" name="Rounded Rectangle 6"/>
          <p:cNvSpPr/>
          <p:nvPr/>
        </p:nvSpPr>
        <p:spPr>
          <a:xfrm>
            <a:off x="8046720" y="2103120"/>
            <a:ext cx="3291840" cy="411480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[SAFETY]  Zero Code Execution Hazard</a:t>
            </a:r>
          </a:p>
          <a:p>
            <a:pPr>
              <a:defRPr sz="2800" b="1">
                <a:solidFill>
                  <a:srgbClr val="60A5FA"/>
                </a:solidFill>
                <a:latin typeface="Arial"/>
              </a:defRPr>
            </a:pPr>
            <a:r>
              <a:t>100% Pure AST</a:t>
            </a:r>
          </a:p>
          <a:p>
            <a:pPr>
              <a:spcBef>
                <a:spcPts val="600"/>
              </a:spcBef>
              <a:defRPr sz="1100">
                <a:solidFill>
                  <a:srgbClr val="A1A1AA"/>
                </a:solidFill>
                <a:latin typeface="Arial"/>
              </a:defRPr>
            </a:pPr>
            <a:r>
              <a:t>• Static AST parsing never executes untrusted user code.</a:t>
            </a:r>
            <a:br/>
            <a:br/>
            <a:r>
              <a:t>• Operates entirely in memory.</a:t>
            </a:r>
            <a:br/>
            <a:br/>
            <a:r>
              <a:t>• All test runs occur in disposable temp clones.</a:t>
            </a:r>
            <a:br/>
            <a:br/>
            <a:r>
              <a:t>• Original demo repositories remain pristine.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90B"/>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34D399"/>
                </a:solidFill>
                <a:latin typeface="Arial"/>
              </a:defRPr>
            </a:pPr>
            <a:r>
              <a:t>SUMMARY &amp; VISION</a:t>
            </a:r>
          </a:p>
        </p:txBody>
      </p:sp>
      <p:sp>
        <p:nvSpPr>
          <p:cNvPr id="3" name="TextBox 2"/>
          <p:cNvSpPr txBox="1"/>
          <p:nvPr/>
        </p:nvSpPr>
        <p:spPr>
          <a:xfrm>
            <a:off x="731520" y="685800"/>
            <a:ext cx="10515600" cy="640080"/>
          </a:xfrm>
          <a:prstGeom prst="rect">
            <a:avLst/>
          </a:prstGeom>
          <a:noFill/>
        </p:spPr>
        <p:txBody>
          <a:bodyPr wrap="square">
            <a:spAutoFit/>
          </a:bodyPr>
          <a:lstStyle/>
          <a:p>
            <a:pPr>
              <a:defRPr sz="2600" b="1">
                <a:solidFill>
                  <a:srgbClr val="FAFAFA"/>
                </a:solidFill>
                <a:latin typeface="Arial"/>
              </a:defRPr>
            </a:pPr>
            <a:r>
              <a:t>TestPrioritize AI • Ready for Production CI</a:t>
            </a:r>
          </a:p>
        </p:txBody>
      </p:sp>
      <p:sp>
        <p:nvSpPr>
          <p:cNvPr id="4" name="TextBox 3"/>
          <p:cNvSpPr txBox="1"/>
          <p:nvPr/>
        </p:nvSpPr>
        <p:spPr>
          <a:xfrm>
            <a:off x="731520" y="1325880"/>
            <a:ext cx="10515600" cy="502920"/>
          </a:xfrm>
          <a:prstGeom prst="rect">
            <a:avLst/>
          </a:prstGeom>
          <a:noFill/>
        </p:spPr>
        <p:txBody>
          <a:bodyPr wrap="square">
            <a:spAutoFit/>
          </a:bodyPr>
          <a:lstStyle/>
          <a:p>
            <a:pPr>
              <a:defRPr sz="1300">
                <a:solidFill>
                  <a:srgbClr val="A1A1AA"/>
                </a:solidFill>
                <a:latin typeface="Arial"/>
              </a:defRPr>
            </a:pPr>
            <a:r>
              <a:t>From slow, blind test execution to deterministic, intelligent test orchestration.</a:t>
            </a:r>
          </a:p>
        </p:txBody>
      </p:sp>
      <p:sp>
        <p:nvSpPr>
          <p:cNvPr id="5" name="Rounded Rectangle 4"/>
          <p:cNvSpPr/>
          <p:nvPr/>
        </p:nvSpPr>
        <p:spPr>
          <a:xfrm>
            <a:off x="731520" y="2103120"/>
            <a:ext cx="5120640" cy="34747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[IMMEDIATE ROI]  Immediate Value Delivered</a:t>
            </a:r>
          </a:p>
          <a:p>
            <a:pPr>
              <a:spcBef>
                <a:spcPts val="600"/>
              </a:spcBef>
              <a:defRPr sz="1100">
                <a:solidFill>
                  <a:srgbClr val="A1A1AA"/>
                </a:solidFill>
                <a:latin typeface="Arial"/>
              </a:defRPr>
            </a:pPr>
            <a:r>
              <a:t>• 85.5% Faster Regression Feedback: Catches broken PRs in seconds instead of waiting for full suites.</a:t>
            </a:r>
            <a:br/>
            <a:br/>
            <a:r>
              <a:t>• Up to 50% CI Compute Cost Reduction: Fails fast on broken builds before burning expensive cloud runner minutes.</a:t>
            </a:r>
            <a:br/>
            <a:br/>
            <a:r>
              <a:t>• Zero Hallucination: 100% deterministic mathematical ranking with transparent scores and evidence.</a:t>
            </a:r>
            <a:br/>
            <a:br/>
            <a:r>
              <a:t>• User Agency: Flexible Top-N and manual selection modes.</a:t>
            </a:r>
          </a:p>
        </p:txBody>
      </p:sp>
      <p:sp>
        <p:nvSpPr>
          <p:cNvPr id="6" name="Rounded Rectangle 5"/>
          <p:cNvSpPr/>
          <p:nvPr/>
        </p:nvSpPr>
        <p:spPr>
          <a:xfrm>
            <a:off x="6217920" y="2103120"/>
            <a:ext cx="5120640" cy="3474720"/>
          </a:xfrm>
          <a:prstGeom prst="roundRect">
            <a:avLst/>
          </a:prstGeom>
          <a:solidFill>
            <a:srgbClr val="111114"/>
          </a:solidFill>
          <a:ln w="12700">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defRPr b="1" sz="1400">
                <a:solidFill>
                  <a:srgbClr val="FAFAFA"/>
                </a:solidFill>
                <a:latin typeface="Arial"/>
              </a:defRPr>
            </a:pPr>
            <a:r>
              <a:t>[ROADMAP]  Future Roadmap</a:t>
            </a:r>
          </a:p>
          <a:p>
            <a:pPr>
              <a:spcBef>
                <a:spcPts val="600"/>
              </a:spcBef>
              <a:defRPr sz="1100">
                <a:solidFill>
                  <a:srgbClr val="A1A1AA"/>
                </a:solidFill>
                <a:latin typeface="Arial"/>
              </a:defRPr>
            </a:pPr>
            <a:r>
              <a:t>• GitHub Action Bot: Auto-comments prioritized test plans and failure previews on PRs.</a:t>
            </a:r>
            <a:br/>
            <a:br/>
            <a:r>
              <a:t>• Multi-Language Support: Tree-sitter AST parsing for TypeScript/JavaScript, Go, and Java.</a:t>
            </a:r>
            <a:br/>
            <a:br/>
            <a:r>
              <a:t>• Historical Flakiness Profiling: Integrates test flakiness analytics with static AST scores.</a:t>
            </a:r>
            <a:br/>
            <a:br/>
            <a:r>
              <a:t>• Enterprise CI Plugins: Direct integration for Jenkins, CircleCI, and GitLab.</a:t>
            </a:r>
          </a:p>
        </p:txBody>
      </p:sp>
      <p:sp>
        <p:nvSpPr>
          <p:cNvPr id="7" name="Rounded Rectangle 6"/>
          <p:cNvSpPr/>
          <p:nvPr/>
        </p:nvSpPr>
        <p:spPr>
          <a:xfrm>
            <a:off x="731520" y="5760720"/>
            <a:ext cx="10607040" cy="731520"/>
          </a:xfrm>
          <a:prstGeom prst="roundRect">
            <a:avLst/>
          </a:prstGeom>
          <a:solidFill>
            <a:srgbClr val="10B98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9090B"/>
                </a:solidFill>
              </a:defRPr>
            </a:pPr>
            <a:r>
              <a:t>READY FOR LIVE DEMONSTRATION &amp; JUDGE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